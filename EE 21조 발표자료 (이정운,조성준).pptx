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4" r:id="rId5"/>
    <p:sldId id="265" r:id="rId6"/>
    <p:sldId id="261" r:id="rId7"/>
    <p:sldId id="262" r:id="rId8"/>
    <p:sldId id="263" r:id="rId9"/>
    <p:sldId id="266" r:id="rId10"/>
    <p:sldId id="267" r:id="rId11"/>
  </p:sldIdLst>
  <p:sldSz cx="12192000" cy="6858000"/>
  <p:notesSz cx="6858000" cy="12192000"/>
  <p:embeddedFontLst>
    <p:embeddedFont>
      <p:font typeface="Merriweather" panose="00000500000000000000" pitchFamily="2" charset="0"/>
      <p:regular r:id="rId13"/>
    </p:embeddedFont>
    <p:embeddedFont>
      <p:font typeface="Merriweather Bold" panose="00000800000000000000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730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llume-stitch-48489-complete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e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521619"/>
            <a:ext cx="1942158" cy="312440"/>
          </a:xfrm>
          <a:prstGeom prst="roundRect">
            <a:avLst>
              <a:gd name="adj" fmla="val 22120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43140" y="1583234"/>
            <a:ext cx="230509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비전 기반 스마트 케어</a:t>
            </a:r>
            <a:endParaRPr lang="ko-KR" sz="1250" dirty="0"/>
          </a:p>
        </p:txBody>
      </p:sp>
      <p:sp>
        <p:nvSpPr>
          <p:cNvPr id="4" name="Text 2"/>
          <p:cNvSpPr/>
          <p:nvPr/>
        </p:nvSpPr>
        <p:spPr>
          <a:xfrm>
            <a:off x="719814" y="1916311"/>
            <a:ext cx="10752067" cy="192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100" dirty="0">
                <a:solidFill>
                  <a:srgbClr val="D2600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Pillume</a:t>
            </a:r>
            <a:endParaRPr lang="en-US" sz="12100" dirty="0"/>
          </a:p>
        </p:txBody>
      </p:sp>
      <p:sp>
        <p:nvSpPr>
          <p:cNvPr id="5" name="Text 3"/>
          <p:cNvSpPr/>
          <p:nvPr/>
        </p:nvSpPr>
        <p:spPr>
          <a:xfrm>
            <a:off x="415022" y="4022753"/>
            <a:ext cx="11361652" cy="32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ko-KR" alt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비전 기반 올인원 복약·안전 스마트 케어 램프</a:t>
            </a:r>
            <a:endParaRPr lang="en-US" altLang="ko-KR" sz="16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ctr">
              <a:lnSpc>
                <a:spcPct val="133000"/>
              </a:lnSpc>
            </a:pPr>
            <a:r>
              <a:rPr lang="ko-KR" altLang="ko-KR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https://pillume-stitch-48489-complete.vercel.app</a:t>
            </a:r>
            <a:endParaRPr lang="en-US" altLang="ko-KR" sz="1600" dirty="0">
              <a:solidFill>
                <a:schemeClr val="bg1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endParaRPr lang="en-US" altLang="ko-KR" sz="16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719814" y="4764881"/>
            <a:ext cx="10752067" cy="25400"/>
          </a:xfrm>
          <a:prstGeom prst="roundRect">
            <a:avLst>
              <a:gd name="adj" fmla="val 49999"/>
            </a:avLst>
          </a:prstGeom>
          <a:solidFill>
            <a:srgbClr val="E2E6E9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5022" y="5073055"/>
            <a:ext cx="11361652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ko-KR" alt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팀이름: EE 21  |  팀원: 이정운, 조성준</a:t>
            </a:r>
            <a:endParaRPr lang="ko-KR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134963"/>
            <a:ext cx="1487153" cy="312440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609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43140" y="1196578"/>
            <a:ext cx="1850086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2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01. 필요성 및 현황</a:t>
            </a:r>
            <a:endParaRPr lang="ko-KR" sz="1250" dirty="0"/>
          </a:p>
        </p:txBody>
      </p:sp>
      <p:sp>
        <p:nvSpPr>
          <p:cNvPr id="4" name="Text 2"/>
          <p:cNvSpPr/>
          <p:nvPr/>
        </p:nvSpPr>
        <p:spPr>
          <a:xfrm>
            <a:off x="719814" y="1529655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왜 </a:t>
            </a:r>
            <a:r>
              <a:rPr lang="ko-KR" altLang="en-US" sz="4000" dirty="0">
                <a:solidFill>
                  <a:srgbClr val="D2600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Pillume</a:t>
            </a:r>
            <a:r>
              <a:rPr lang="ko-KR" alt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인가?</a:t>
            </a:r>
            <a:endParaRPr lang="ko-KR" sz="4000" dirty="0"/>
          </a:p>
        </p:txBody>
      </p:sp>
      <p:sp>
        <p:nvSpPr>
          <p:cNvPr id="5" name="Shape 3"/>
          <p:cNvSpPr/>
          <p:nvPr/>
        </p:nvSpPr>
        <p:spPr>
          <a:xfrm>
            <a:off x="719814" y="2712244"/>
            <a:ext cx="5125116" cy="1719064"/>
          </a:xfrm>
          <a:prstGeom prst="roundRect">
            <a:avLst>
              <a:gd name="adj" fmla="val 5025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50889" y="2943324"/>
            <a:ext cx="466296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초고령화 사회의 현실</a:t>
            </a:r>
            <a:endParaRPr lang="ko-KR" sz="2000" dirty="0"/>
          </a:p>
        </p:txBody>
      </p:sp>
      <p:sp>
        <p:nvSpPr>
          <p:cNvPr id="7" name="Text 5"/>
          <p:cNvSpPr/>
          <p:nvPr/>
        </p:nvSpPr>
        <p:spPr>
          <a:xfrm>
            <a:off x="950889" y="3470275"/>
            <a:ext cx="4662966" cy="729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ko-KR" alt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65세 이상 고령 인구 </a:t>
            </a:r>
            <a:r>
              <a:rPr lang="ko-KR" alt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20.3% 돌파</a:t>
            </a:r>
            <a:endParaRPr lang="ko-KR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ko-KR" alt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독거노인 </a:t>
            </a:r>
            <a:r>
              <a:rPr lang="ko-KR" alt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200만 가구</a:t>
            </a:r>
            <a:r>
              <a:rPr lang="ko-KR" alt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로 돌봄 공백 심화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353115" y="2712244"/>
            <a:ext cx="5125116" cy="1719064"/>
          </a:xfrm>
          <a:prstGeom prst="roundRect">
            <a:avLst>
              <a:gd name="adj" fmla="val 5025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84190" y="2943324"/>
            <a:ext cx="466296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핵심 문제: 복약 불순응</a:t>
            </a:r>
            <a:endParaRPr lang="ko-KR" sz="2000" dirty="0"/>
          </a:p>
        </p:txBody>
      </p:sp>
      <p:sp>
        <p:nvSpPr>
          <p:cNvPr id="10" name="Text 8"/>
          <p:cNvSpPr/>
          <p:nvPr/>
        </p:nvSpPr>
        <p:spPr>
          <a:xfrm>
            <a:off x="6584190" y="3470275"/>
            <a:ext cx="4662966" cy="729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ko-KR" alt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만성질환 노인의 </a:t>
            </a:r>
            <a:r>
              <a:rPr lang="ko-KR" alt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52.4%</a:t>
            </a:r>
            <a:r>
              <a:rPr lang="ko-KR" alt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가 복약 지침 미준수</a:t>
            </a:r>
            <a:endParaRPr lang="ko-KR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ko-KR" alt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복약 누락 시 재입원·사망 위험 </a:t>
            </a:r>
            <a:r>
              <a:rPr lang="ko-KR" alt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2배 이상 증가</a:t>
            </a:r>
            <a:endParaRPr lang="ko-KR" sz="1600" dirty="0"/>
          </a:p>
        </p:txBody>
      </p:sp>
      <p:sp>
        <p:nvSpPr>
          <p:cNvPr id="11" name="Shape 9"/>
          <p:cNvSpPr/>
          <p:nvPr/>
        </p:nvSpPr>
        <p:spPr>
          <a:xfrm>
            <a:off x="719814" y="4894064"/>
            <a:ext cx="10752067" cy="828873"/>
          </a:xfrm>
          <a:prstGeom prst="roundRect">
            <a:avLst>
              <a:gd name="adj" fmla="val 10422"/>
            </a:avLst>
          </a:prstGeom>
          <a:solidFill>
            <a:srgbClr val="0031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89" y="5187057"/>
            <a:ext cx="257069" cy="2056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88234" y="5151140"/>
            <a:ext cx="10487556" cy="335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💡</a:t>
            </a:r>
            <a:r>
              <a:rPr lang="ko-KR" altLang="en-US" sz="16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해결 방향 :</a:t>
            </a:r>
            <a:r>
              <a:rPr lang="ko-KR" altLang="en-US" sz="16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손짓 하나로 약을 관리하고 응급 상황을 즉시 알리는 자율형 돌봄 시스템이 필요합니다.</a:t>
            </a:r>
            <a:endParaRPr lang="ko-K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870472"/>
            <a:ext cx="2511759" cy="312440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609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43140" y="1932087"/>
            <a:ext cx="287469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2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02. 정시 알림 &amp; 비접촉 모션 배출</a:t>
            </a:r>
            <a:endParaRPr lang="ko-KR" sz="1250" dirty="0"/>
          </a:p>
        </p:txBody>
      </p:sp>
      <p:sp>
        <p:nvSpPr>
          <p:cNvPr id="4" name="Text 2"/>
          <p:cNvSpPr/>
          <p:nvPr/>
        </p:nvSpPr>
        <p:spPr>
          <a:xfrm>
            <a:off x="719814" y="2265164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손짓 하나로 </a:t>
            </a:r>
            <a:r>
              <a:rPr lang="ko-KR" altLang="en-US" sz="4000" dirty="0">
                <a:solidFill>
                  <a:srgbClr val="D2600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약 복용</a:t>
            </a:r>
            <a:r>
              <a:rPr lang="ko-KR" alt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ko-KR" altLang="en-US" sz="4000" dirty="0">
                <a:solidFill>
                  <a:srgbClr val="D2600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| 기능 1</a:t>
            </a:r>
            <a:endParaRPr lang="ko-KR" sz="4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3216374"/>
            <a:ext cx="411351" cy="4113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9814" y="3884811"/>
            <a:ext cx="341264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정시 알림</a:t>
            </a:r>
            <a:endParaRPr lang="ko-KR" sz="2000" dirty="0"/>
          </a:p>
        </p:txBody>
      </p:sp>
      <p:sp>
        <p:nvSpPr>
          <p:cNvPr id="7" name="Text 4"/>
          <p:cNvSpPr/>
          <p:nvPr/>
        </p:nvSpPr>
        <p:spPr>
          <a:xfrm>
            <a:off x="719814" y="4329410"/>
            <a:ext cx="3412643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피에조 부저 + 초록 램프로 복약 시간 알림, </a:t>
            </a:r>
            <a:r>
              <a:rPr lang="ko-KR" altLang="en-US" sz="1600" dirty="0" err="1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OLED에</a:t>
            </a:r>
            <a:r>
              <a:rPr lang="ko-KR" alt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“</a:t>
            </a:r>
            <a:r>
              <a:rPr lang="en-US" altLang="ko-KR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MEDICINE</a:t>
            </a:r>
            <a:r>
              <a:rPr lang="ko-KR" alt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altLang="ko-KR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TIME</a:t>
            </a:r>
            <a:r>
              <a:rPr lang="ko-KR" alt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 표시</a:t>
            </a:r>
            <a:endParaRPr lang="ko-KR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526" y="3216374"/>
            <a:ext cx="411351" cy="4113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526" y="3884811"/>
            <a:ext cx="341264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비접촉 인식</a:t>
            </a:r>
            <a:endParaRPr lang="ko-KR" sz="2000" dirty="0"/>
          </a:p>
        </p:txBody>
      </p:sp>
      <p:sp>
        <p:nvSpPr>
          <p:cNvPr id="10" name="Text 6"/>
          <p:cNvSpPr/>
          <p:nvPr/>
        </p:nvSpPr>
        <p:spPr>
          <a:xfrm>
            <a:off x="4389526" y="4329410"/>
            <a:ext cx="3412643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적외선 센서가 손을 감지하여 자동으로 동작 시작</a:t>
            </a:r>
            <a:endParaRPr lang="ko-KR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9238" y="3216374"/>
            <a:ext cx="411351" cy="4113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59238" y="3884811"/>
            <a:ext cx="341264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약 배출 &amp; 웹 연동</a:t>
            </a:r>
            <a:endParaRPr lang="ko-KR" sz="2000" dirty="0"/>
          </a:p>
        </p:txBody>
      </p:sp>
      <p:sp>
        <p:nvSpPr>
          <p:cNvPr id="13" name="Text 8"/>
          <p:cNvSpPr/>
          <p:nvPr/>
        </p:nvSpPr>
        <p:spPr>
          <a:xfrm>
            <a:off x="8059238" y="4329410"/>
            <a:ext cx="3412643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서보모터로 1회분 자동 배출 → 대시보드 실시간 업데이트</a:t>
            </a:r>
            <a:endParaRPr lang="ko-KR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623888"/>
            <a:ext cx="2721701" cy="288131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609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33516" y="680740"/>
            <a:ext cx="3103882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1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03. 지정시간 미복용 감지 &amp; 경보 인터록</a:t>
            </a:r>
            <a:endParaRPr lang="ko-KR" sz="1150" dirty="0"/>
          </a:p>
        </p:txBody>
      </p:sp>
      <p:sp>
        <p:nvSpPr>
          <p:cNvPr id="4" name="Text 2"/>
          <p:cNvSpPr/>
          <p:nvPr/>
        </p:nvSpPr>
        <p:spPr>
          <a:xfrm>
            <a:off x="719814" y="981869"/>
            <a:ext cx="10752067" cy="5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복약 누락 시 </a:t>
            </a:r>
            <a:r>
              <a:rPr lang="ko-KR" altLang="en-US" sz="3700" dirty="0">
                <a:solidFill>
                  <a:srgbClr val="D2600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즉시 경보</a:t>
            </a:r>
            <a:r>
              <a:rPr lang="ko-KR" altLang="en-US" sz="3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ko-KR" altLang="en-US" sz="3700" dirty="0">
                <a:solidFill>
                  <a:srgbClr val="D2600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| 기능 2</a:t>
            </a:r>
            <a:endParaRPr lang="ko-KR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2033191"/>
            <a:ext cx="5144760" cy="40041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6413" y="2248198"/>
            <a:ext cx="4613160" cy="29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🔍</a:t>
            </a:r>
            <a:r>
              <a:rPr lang="ko-KR" alt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미복용 감지</a:t>
            </a:r>
            <a:endParaRPr lang="ko-KR" sz="1850" dirty="0"/>
          </a:p>
        </p:txBody>
      </p:sp>
      <p:sp>
        <p:nvSpPr>
          <p:cNvPr id="7" name="Text 4"/>
          <p:cNvSpPr/>
          <p:nvPr/>
        </p:nvSpPr>
        <p:spPr>
          <a:xfrm>
            <a:off x="1036413" y="2719189"/>
            <a:ext cx="4613160" cy="291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ko-KR" alt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복약 마감 시간 30분 전 미수령 시 자동 경고 발생</a:t>
            </a:r>
            <a:endParaRPr lang="ko-KR" sz="1450" dirty="0"/>
          </a:p>
        </p:txBody>
      </p:sp>
      <p:sp>
        <p:nvSpPr>
          <p:cNvPr id="8" name="Text 5"/>
          <p:cNvSpPr/>
          <p:nvPr/>
        </p:nvSpPr>
        <p:spPr>
          <a:xfrm>
            <a:off x="1036413" y="3185418"/>
            <a:ext cx="4613160" cy="29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🌅</a:t>
            </a:r>
            <a:r>
              <a:rPr lang="ko-KR" alt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아침</a:t>
            </a:r>
            <a:endParaRPr lang="ko-KR" sz="1850" dirty="0"/>
          </a:p>
        </p:txBody>
      </p:sp>
      <p:sp>
        <p:nvSpPr>
          <p:cNvPr id="9" name="Text 6"/>
          <p:cNvSpPr/>
          <p:nvPr/>
        </p:nvSpPr>
        <p:spPr>
          <a:xfrm>
            <a:off x="1036413" y="3656409"/>
            <a:ext cx="4613160" cy="291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ko-KR" alt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10:00 마감 (30분 전 경고: 09:30)</a:t>
            </a:r>
            <a:endParaRPr lang="ko-KR" sz="1450" dirty="0"/>
          </a:p>
        </p:txBody>
      </p:sp>
      <p:sp>
        <p:nvSpPr>
          <p:cNvPr id="10" name="Text 7"/>
          <p:cNvSpPr/>
          <p:nvPr/>
        </p:nvSpPr>
        <p:spPr>
          <a:xfrm>
            <a:off x="1036413" y="4122638"/>
            <a:ext cx="4613160" cy="29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☀️</a:t>
            </a:r>
            <a:r>
              <a:rPr lang="ko-KR" alt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점심</a:t>
            </a:r>
            <a:endParaRPr lang="ko-KR" sz="1850" dirty="0"/>
          </a:p>
        </p:txBody>
      </p:sp>
      <p:sp>
        <p:nvSpPr>
          <p:cNvPr id="11" name="Text 8"/>
          <p:cNvSpPr/>
          <p:nvPr/>
        </p:nvSpPr>
        <p:spPr>
          <a:xfrm>
            <a:off x="1036413" y="4593630"/>
            <a:ext cx="4613160" cy="291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ko-KR" alt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13:00 마감 (30분 전 경고: 12:30)</a:t>
            </a:r>
            <a:endParaRPr lang="ko-KR" sz="1450" dirty="0"/>
          </a:p>
        </p:txBody>
      </p:sp>
      <p:sp>
        <p:nvSpPr>
          <p:cNvPr id="12" name="Text 9"/>
          <p:cNvSpPr/>
          <p:nvPr/>
        </p:nvSpPr>
        <p:spPr>
          <a:xfrm>
            <a:off x="1036413" y="5059859"/>
            <a:ext cx="4613160" cy="29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🌆</a:t>
            </a:r>
            <a:r>
              <a:rPr lang="ko-KR" alt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저녁</a:t>
            </a:r>
            <a:endParaRPr lang="ko-KR" sz="1850" dirty="0"/>
          </a:p>
        </p:txBody>
      </p:sp>
      <p:sp>
        <p:nvSpPr>
          <p:cNvPr id="13" name="Text 10"/>
          <p:cNvSpPr/>
          <p:nvPr/>
        </p:nvSpPr>
        <p:spPr>
          <a:xfrm>
            <a:off x="1036413" y="5530850"/>
            <a:ext cx="4613160" cy="291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ko-KR" alt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17:00 마감 (30분 전 경고: 16:30)</a:t>
            </a:r>
            <a:endParaRPr lang="ko-KR" sz="14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3470" y="2033191"/>
            <a:ext cx="5144760" cy="189775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50070" y="2248198"/>
            <a:ext cx="4613160" cy="29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🚨</a:t>
            </a:r>
            <a:r>
              <a:rPr lang="ko-KR" alt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경보 시스템</a:t>
            </a:r>
            <a:endParaRPr lang="ko-KR" sz="1850" dirty="0"/>
          </a:p>
        </p:txBody>
      </p:sp>
      <p:sp>
        <p:nvSpPr>
          <p:cNvPr id="16" name="Text 12"/>
          <p:cNvSpPr/>
          <p:nvPr/>
        </p:nvSpPr>
        <p:spPr>
          <a:xfrm>
            <a:off x="6650070" y="2719189"/>
            <a:ext cx="4613160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8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OLED에 'PLEASE TAKE  YOUR MEDICINE' 출력</a:t>
            </a:r>
            <a:endParaRPr lang="ko-KR" sz="1450" dirty="0"/>
          </a:p>
          <a:p>
            <a:pPr marL="294640" indent="-294640" algn="l">
              <a:lnSpc>
                <a:spcPct val="128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피에조 부저 경보음</a:t>
            </a:r>
            <a:endParaRPr lang="ko-KR" sz="1450" dirty="0"/>
          </a:p>
          <a:p>
            <a:pPr marL="294640" indent="-294640" algn="l">
              <a:lnSpc>
                <a:spcPct val="128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웹 대시보드로 미복용 경고 신호 </a:t>
            </a:r>
            <a:r>
              <a:rPr lang="ko-KR" altLang="en-US" sz="14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즉시 송출</a:t>
            </a:r>
            <a:endParaRPr lang="ko-KR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611088"/>
            <a:ext cx="2753152" cy="278209"/>
          </a:xfrm>
          <a:prstGeom prst="roundRect">
            <a:avLst>
              <a:gd name="adj" fmla="val 22124"/>
            </a:avLst>
          </a:prstGeom>
          <a:noFill/>
          <a:ln w="6350">
            <a:solidFill>
              <a:srgbClr val="609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9646" y="665956"/>
            <a:ext cx="3185438" cy="141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1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04. 제스처 조명 제어 &amp; 긴급 SOS 시스템</a:t>
            </a:r>
            <a:endParaRPr lang="ko-KR" sz="1150" dirty="0"/>
          </a:p>
        </p:txBody>
      </p:sp>
      <p:sp>
        <p:nvSpPr>
          <p:cNvPr id="4" name="Text 2"/>
          <p:cNvSpPr/>
          <p:nvPr/>
        </p:nvSpPr>
        <p:spPr>
          <a:xfrm>
            <a:off x="719814" y="954484"/>
            <a:ext cx="10752067" cy="5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직관적 모션으로 누워서 </a:t>
            </a:r>
            <a:r>
              <a:rPr lang="ko-KR" altLang="en-US" sz="3600" dirty="0">
                <a:solidFill>
                  <a:srgbClr val="D2600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조명 제어 &amp; 긴급 구조</a:t>
            </a:r>
            <a:r>
              <a:rPr lang="ko-KR" alt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ko-KR" altLang="en-US" sz="3600" dirty="0">
                <a:solidFill>
                  <a:srgbClr val="D2600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| 기능 3</a:t>
            </a:r>
            <a:endParaRPr lang="ko-KR" sz="3600" dirty="0"/>
          </a:p>
        </p:txBody>
      </p:sp>
      <p:sp>
        <p:nvSpPr>
          <p:cNvPr id="5" name="Text 3"/>
          <p:cNvSpPr/>
          <p:nvPr/>
        </p:nvSpPr>
        <p:spPr>
          <a:xfrm>
            <a:off x="719814" y="1934766"/>
            <a:ext cx="6048422" cy="457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8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🤜</a:t>
            </a:r>
            <a:r>
              <a:rPr lang="ko-KR" altLang="en-US" sz="2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직관적 모션 매핑</a:t>
            </a:r>
            <a:endParaRPr lang="ko-KR" sz="2850" dirty="0"/>
          </a:p>
        </p:txBody>
      </p:sp>
      <p:sp>
        <p:nvSpPr>
          <p:cNvPr id="6" name="Shape 4"/>
          <p:cNvSpPr/>
          <p:nvPr/>
        </p:nvSpPr>
        <p:spPr>
          <a:xfrm>
            <a:off x="719814" y="2576215"/>
            <a:ext cx="2942655" cy="1662013"/>
          </a:xfrm>
          <a:prstGeom prst="roundRect">
            <a:avLst>
              <a:gd name="adj" fmla="val 462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09317" y="2765723"/>
            <a:ext cx="2563649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1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👊</a:t>
            </a:r>
            <a:r>
              <a:rPr lang="ko-KR" alt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주먹</a:t>
            </a:r>
            <a:endParaRPr lang="ko-KR" sz="2150" dirty="0"/>
          </a:p>
        </p:txBody>
      </p:sp>
      <p:sp>
        <p:nvSpPr>
          <p:cNvPr id="8" name="Text 6"/>
          <p:cNvSpPr/>
          <p:nvPr/>
        </p:nvSpPr>
        <p:spPr>
          <a:xfrm>
            <a:off x="909317" y="3278684"/>
            <a:ext cx="2563649" cy="346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ko-KR" altLang="en-US" sz="18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💡</a:t>
            </a:r>
            <a:r>
              <a:rPr lang="ko-KR" alt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램프 </a:t>
            </a:r>
            <a:r>
              <a:rPr lang="ko-KR" altLang="en-US" sz="1800" b="1" dirty="0" err="1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</a:t>
            </a:r>
            <a:r>
              <a:rPr lang="en-US" altLang="ko-KR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N</a:t>
            </a:r>
            <a:endParaRPr lang="ko-KR" sz="1800" dirty="0"/>
          </a:p>
        </p:txBody>
      </p:sp>
      <p:sp>
        <p:nvSpPr>
          <p:cNvPr id="9" name="Text 7"/>
          <p:cNvSpPr/>
          <p:nvPr/>
        </p:nvSpPr>
        <p:spPr>
          <a:xfrm>
            <a:off x="909317" y="3771702"/>
            <a:ext cx="2563649" cy="277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ko-KR" alt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손을 쥐어 조명을 켭니다</a:t>
            </a:r>
            <a:endParaRPr lang="ko-KR" sz="1400" dirty="0"/>
          </a:p>
        </p:txBody>
      </p:sp>
      <p:sp>
        <p:nvSpPr>
          <p:cNvPr id="10" name="Shape 8"/>
          <p:cNvSpPr/>
          <p:nvPr/>
        </p:nvSpPr>
        <p:spPr>
          <a:xfrm>
            <a:off x="3825581" y="2576215"/>
            <a:ext cx="2942655" cy="1662013"/>
          </a:xfrm>
          <a:prstGeom prst="roundRect">
            <a:avLst>
              <a:gd name="adj" fmla="val 462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015084" y="2765723"/>
            <a:ext cx="2563649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1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👍</a:t>
            </a:r>
            <a:r>
              <a:rPr lang="ko-KR" alt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엄지</a:t>
            </a:r>
            <a:endParaRPr lang="ko-KR" sz="2150" dirty="0"/>
          </a:p>
        </p:txBody>
      </p:sp>
      <p:sp>
        <p:nvSpPr>
          <p:cNvPr id="12" name="Text 10"/>
          <p:cNvSpPr/>
          <p:nvPr/>
        </p:nvSpPr>
        <p:spPr>
          <a:xfrm>
            <a:off x="4015084" y="3278684"/>
            <a:ext cx="2563649" cy="346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ko-KR" altLang="en-US" sz="18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💡</a:t>
            </a:r>
            <a:r>
              <a:rPr lang="ko-KR" alt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램프 </a:t>
            </a:r>
            <a:r>
              <a:rPr lang="ko-KR" altLang="en-US" sz="1800" b="1" dirty="0" err="1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</a:t>
            </a:r>
            <a:r>
              <a:rPr lang="en-US" altLang="ko-KR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FF</a:t>
            </a:r>
            <a:endParaRPr lang="ko-KR" sz="1800" dirty="0"/>
          </a:p>
        </p:txBody>
      </p:sp>
      <p:sp>
        <p:nvSpPr>
          <p:cNvPr id="13" name="Text 11"/>
          <p:cNvSpPr/>
          <p:nvPr/>
        </p:nvSpPr>
        <p:spPr>
          <a:xfrm>
            <a:off x="4015084" y="3771702"/>
            <a:ext cx="2563649" cy="277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ko-KR" alt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엄지를 올려 조명을 끕니다</a:t>
            </a:r>
            <a:r>
              <a:rPr lang="en-US" altLang="ko-KR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ko-KR" sz="1400" dirty="0"/>
          </a:p>
        </p:txBody>
      </p:sp>
      <p:sp>
        <p:nvSpPr>
          <p:cNvPr id="14" name="Shape 12"/>
          <p:cNvSpPr/>
          <p:nvPr/>
        </p:nvSpPr>
        <p:spPr>
          <a:xfrm>
            <a:off x="719814" y="4401344"/>
            <a:ext cx="6048422" cy="1662013"/>
          </a:xfrm>
          <a:prstGeom prst="roundRect">
            <a:avLst>
              <a:gd name="adj" fmla="val 462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09317" y="4590852"/>
            <a:ext cx="5669416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1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✋</a:t>
            </a:r>
            <a:r>
              <a:rPr lang="ko-KR" alt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손바닥</a:t>
            </a:r>
            <a:endParaRPr lang="ko-KR" sz="2150" dirty="0"/>
          </a:p>
        </p:txBody>
      </p:sp>
      <p:sp>
        <p:nvSpPr>
          <p:cNvPr id="16" name="Text 14"/>
          <p:cNvSpPr/>
          <p:nvPr/>
        </p:nvSpPr>
        <p:spPr>
          <a:xfrm>
            <a:off x="909317" y="5103813"/>
            <a:ext cx="5669416" cy="346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ko-KR" altLang="en-US" sz="18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🚨</a:t>
            </a:r>
            <a:r>
              <a:rPr lang="ko-KR" alt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ko-KR" altLang="en-US" sz="18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SOS</a:t>
            </a:r>
            <a:r>
              <a:rPr lang="ko-KR" alt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호출</a:t>
            </a:r>
            <a:endParaRPr lang="ko-KR" sz="1800" dirty="0"/>
          </a:p>
        </p:txBody>
      </p:sp>
      <p:sp>
        <p:nvSpPr>
          <p:cNvPr id="17" name="Text 15"/>
          <p:cNvSpPr/>
          <p:nvPr/>
        </p:nvSpPr>
        <p:spPr>
          <a:xfrm>
            <a:off x="909317" y="5596830"/>
            <a:ext cx="5669416" cy="277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ko-KR" alt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손바닥을 펼쳐 긴급 구조 요청</a:t>
            </a:r>
            <a:endParaRPr lang="ko-KR" sz="1400" dirty="0"/>
          </a:p>
        </p:txBody>
      </p:sp>
      <p:sp>
        <p:nvSpPr>
          <p:cNvPr id="18" name="Text 16"/>
          <p:cNvSpPr/>
          <p:nvPr/>
        </p:nvSpPr>
        <p:spPr>
          <a:xfrm>
            <a:off x="7221456" y="1934766"/>
            <a:ext cx="4256676" cy="457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8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🚨</a:t>
            </a:r>
            <a:r>
              <a:rPr lang="ko-KR" altLang="en-US" sz="2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SOS 작동 시</a:t>
            </a:r>
            <a:endParaRPr lang="ko-KR" sz="28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456" y="2576215"/>
            <a:ext cx="4256676" cy="181163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531606" y="2784773"/>
            <a:ext cx="3737973" cy="28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즉각 경보 출력</a:t>
            </a:r>
            <a:endParaRPr lang="ko-KR" sz="1800" dirty="0"/>
          </a:p>
        </p:txBody>
      </p:sp>
      <p:sp>
        <p:nvSpPr>
          <p:cNvPr id="21" name="Text 18"/>
          <p:cNvSpPr/>
          <p:nvPr/>
        </p:nvSpPr>
        <p:spPr>
          <a:xfrm>
            <a:off x="7531606" y="3234134"/>
            <a:ext cx="3737973" cy="945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600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고주파 </a:t>
            </a:r>
            <a:r>
              <a:rPr lang="ko-KR" altLang="en-US" sz="1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적색 점멸</a:t>
            </a:r>
            <a:r>
              <a:rPr lang="ko-KR" alt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램프 작동</a:t>
            </a:r>
            <a:endParaRPr lang="ko-KR" sz="1400" dirty="0"/>
          </a:p>
          <a:p>
            <a:pPr marL="284480" indent="-284480" algn="l">
              <a:lnSpc>
                <a:spcPct val="12600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피에조 부저 </a:t>
            </a:r>
            <a:r>
              <a:rPr lang="ko-KR" altLang="en-US" sz="1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경보음</a:t>
            </a:r>
            <a:r>
              <a:rPr lang="ko-KR" alt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발생</a:t>
            </a:r>
            <a:endParaRPr lang="ko-KR" sz="1400" dirty="0"/>
          </a:p>
          <a:p>
            <a:pPr marL="284480" indent="-284480" algn="l">
              <a:lnSpc>
                <a:spcPct val="12600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웹 / 보호자 </a:t>
            </a:r>
            <a:r>
              <a:rPr lang="ko-KR" altLang="en-US" sz="1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응급 알림 즉시 송출</a:t>
            </a:r>
            <a:endParaRPr lang="ko-KR" sz="1400" dirty="0"/>
          </a:p>
        </p:txBody>
      </p:sp>
      <p:sp>
        <p:nvSpPr>
          <p:cNvPr id="22" name="Shape 19"/>
          <p:cNvSpPr/>
          <p:nvPr/>
        </p:nvSpPr>
        <p:spPr>
          <a:xfrm>
            <a:off x="7221456" y="4571305"/>
            <a:ext cx="4256676" cy="939006"/>
          </a:xfrm>
          <a:prstGeom prst="roundRect">
            <a:avLst>
              <a:gd name="adj" fmla="val 8194"/>
            </a:avLst>
          </a:prstGeom>
          <a:solidFill>
            <a:srgbClr val="45070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609" y="4836716"/>
            <a:ext cx="228892" cy="18315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816654" y="4763790"/>
            <a:ext cx="3478324" cy="554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ko-KR" altLang="en-US" sz="14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✋</a:t>
            </a:r>
            <a:r>
              <a:rPr lang="ko-KR" altLang="en-US" sz="14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손바닥 제스처 감지 즉시 모든 경보 동시 작동</a:t>
            </a:r>
            <a:endParaRPr lang="ko-KR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796528"/>
            <a:ext cx="2978671" cy="312440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609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43140" y="858143"/>
            <a:ext cx="3341604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2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05. 웹 관제 - 실시간 복약 트래킹 &amp; 설정</a:t>
            </a:r>
            <a:endParaRPr lang="ko-KR" sz="1250" dirty="0"/>
          </a:p>
        </p:txBody>
      </p:sp>
      <p:sp>
        <p:nvSpPr>
          <p:cNvPr id="4" name="Text 2"/>
          <p:cNvSpPr/>
          <p:nvPr/>
        </p:nvSpPr>
        <p:spPr>
          <a:xfrm>
            <a:off x="719814" y="1191220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웹 관제 — </a:t>
            </a:r>
            <a:r>
              <a:rPr lang="ko-KR" altLang="en-US" sz="4000" dirty="0">
                <a:solidFill>
                  <a:srgbClr val="1A6FA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메인 대시보드</a:t>
            </a:r>
            <a:endParaRPr lang="ko-KR" sz="4000" dirty="0"/>
          </a:p>
        </p:txBody>
      </p:sp>
      <p:sp>
        <p:nvSpPr>
          <p:cNvPr id="5" name="Shape 3"/>
          <p:cNvSpPr/>
          <p:nvPr/>
        </p:nvSpPr>
        <p:spPr>
          <a:xfrm>
            <a:off x="719814" y="2373809"/>
            <a:ext cx="2459670" cy="1837035"/>
          </a:xfrm>
          <a:prstGeom prst="roundRect">
            <a:avLst>
              <a:gd name="adj" fmla="val 4703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50889" y="2604889"/>
            <a:ext cx="1997521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📅</a:t>
            </a:r>
            <a:r>
              <a:rPr lang="ko-KR" alt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복약 일정 트래킹</a:t>
            </a:r>
            <a:endParaRPr lang="ko-KR" sz="2000" dirty="0"/>
          </a:p>
        </p:txBody>
      </p:sp>
      <p:sp>
        <p:nvSpPr>
          <p:cNvPr id="7" name="Text 5"/>
          <p:cNvSpPr/>
          <p:nvPr/>
        </p:nvSpPr>
        <p:spPr>
          <a:xfrm>
            <a:off x="950889" y="3453110"/>
            <a:ext cx="1997521" cy="52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아침 · 점심 · 저녁 시간대별 복약 상태 실시간 트래킹</a:t>
            </a:r>
            <a:endParaRPr lang="ko-KR" sz="1250" dirty="0"/>
          </a:p>
        </p:txBody>
      </p:sp>
      <p:sp>
        <p:nvSpPr>
          <p:cNvPr id="8" name="Shape 6"/>
          <p:cNvSpPr/>
          <p:nvPr/>
        </p:nvSpPr>
        <p:spPr>
          <a:xfrm>
            <a:off x="3385160" y="2373809"/>
            <a:ext cx="2459770" cy="1837035"/>
          </a:xfrm>
          <a:prstGeom prst="roundRect">
            <a:avLst>
              <a:gd name="adj" fmla="val 4703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16235" y="2604889"/>
            <a:ext cx="199762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📡</a:t>
            </a:r>
            <a:r>
              <a:rPr lang="ko-KR" alt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실시간 상태 위젯</a:t>
            </a:r>
            <a:endParaRPr lang="ko-KR" sz="2000" dirty="0"/>
          </a:p>
        </p:txBody>
      </p:sp>
      <p:sp>
        <p:nvSpPr>
          <p:cNvPr id="10" name="Text 8"/>
          <p:cNvSpPr/>
          <p:nvPr/>
        </p:nvSpPr>
        <p:spPr>
          <a:xfrm>
            <a:off x="3616235" y="3453110"/>
            <a:ext cx="1997620" cy="52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무드등 ON/OFF 상태 및 </a:t>
            </a:r>
            <a:r>
              <a:rPr lang="ko-KR" altLang="en-US" sz="12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'밀린 복약'</a:t>
            </a:r>
            <a:r>
              <a:rPr lang="ko-KR" alt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횟수 즉시 집계</a:t>
            </a:r>
            <a:endParaRPr lang="ko-KR" sz="1250" dirty="0"/>
          </a:p>
        </p:txBody>
      </p:sp>
      <p:sp>
        <p:nvSpPr>
          <p:cNvPr id="11" name="Shape 9"/>
          <p:cNvSpPr/>
          <p:nvPr/>
        </p:nvSpPr>
        <p:spPr>
          <a:xfrm>
            <a:off x="719814" y="4416524"/>
            <a:ext cx="5125116" cy="1252438"/>
          </a:xfrm>
          <a:prstGeom prst="roundRect">
            <a:avLst>
              <a:gd name="adj" fmla="val 6898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50889" y="4647605"/>
            <a:ext cx="466296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🛡️</a:t>
            </a:r>
            <a:r>
              <a:rPr lang="ko-KR" alt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안전 가이드 알약 채우기</a:t>
            </a:r>
            <a:endParaRPr lang="ko-KR" sz="2000" dirty="0"/>
          </a:p>
        </p:txBody>
      </p:sp>
      <p:sp>
        <p:nvSpPr>
          <p:cNvPr id="13" name="Text 11"/>
          <p:cNvSpPr/>
          <p:nvPr/>
        </p:nvSpPr>
        <p:spPr>
          <a:xfrm>
            <a:off x="950889" y="5174555"/>
            <a:ext cx="4662966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서보모터 정밀 각도 제어 및 안전 가이드 문구 제공</a:t>
            </a:r>
            <a:endParaRPr lang="ko-KR" sz="12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687" y="2076100"/>
            <a:ext cx="5641661" cy="38073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627955"/>
            <a:ext cx="2838577" cy="297855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609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37385" y="686693"/>
            <a:ext cx="3213020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2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05. 웹 관제 - 실시간 복약 트래킹 &amp; 설정</a:t>
            </a:r>
            <a:endParaRPr lang="ko-KR" sz="1200" dirty="0"/>
          </a:p>
        </p:txBody>
      </p:sp>
      <p:sp>
        <p:nvSpPr>
          <p:cNvPr id="4" name="Text 2"/>
          <p:cNvSpPr/>
          <p:nvPr/>
        </p:nvSpPr>
        <p:spPr>
          <a:xfrm>
            <a:off x="719814" y="1000522"/>
            <a:ext cx="10752067" cy="61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3대 스마트 부가 기능 — </a:t>
            </a:r>
            <a:r>
              <a:rPr lang="ko-KR" altLang="en-US" sz="3850" dirty="0" err="1">
                <a:solidFill>
                  <a:srgbClr val="1A6FA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플래너</a:t>
            </a:r>
            <a:r>
              <a:rPr lang="ko-KR" altLang="en-US" sz="3850" dirty="0">
                <a:solidFill>
                  <a:srgbClr val="1A6FA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· 무드등 · AI 챗봇</a:t>
            </a:r>
            <a:endParaRPr lang="ko-KR" sz="3850" dirty="0"/>
          </a:p>
        </p:txBody>
      </p:sp>
      <p:sp>
        <p:nvSpPr>
          <p:cNvPr id="5" name="Shape 3"/>
          <p:cNvSpPr/>
          <p:nvPr/>
        </p:nvSpPr>
        <p:spPr>
          <a:xfrm>
            <a:off x="719814" y="2103537"/>
            <a:ext cx="4013893" cy="1180902"/>
          </a:xfrm>
          <a:prstGeom prst="roundRect">
            <a:avLst>
              <a:gd name="adj" fmla="val 6973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41166" y="2324894"/>
            <a:ext cx="3571190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📅</a:t>
            </a:r>
            <a:r>
              <a:rPr lang="ko-KR" alt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월별 복약 </a:t>
            </a:r>
            <a:r>
              <a:rPr lang="ko-KR" altLang="en-US" sz="1900" dirty="0" err="1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플래너</a:t>
            </a:r>
            <a:endParaRPr lang="ko-KR" sz="1900" dirty="0"/>
          </a:p>
        </p:txBody>
      </p:sp>
      <p:sp>
        <p:nvSpPr>
          <p:cNvPr id="7" name="Text 5"/>
          <p:cNvSpPr/>
          <p:nvPr/>
        </p:nvSpPr>
        <p:spPr>
          <a:xfrm>
            <a:off x="941166" y="2818011"/>
            <a:ext cx="3571190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날짜별 복약 완료 여부 시각화 및 장기 데이터 관리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719814" y="3471267"/>
            <a:ext cx="4013893" cy="1180902"/>
          </a:xfrm>
          <a:prstGeom prst="roundRect">
            <a:avLst>
              <a:gd name="adj" fmla="val 6973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41166" y="3692624"/>
            <a:ext cx="3571190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💡</a:t>
            </a:r>
            <a:r>
              <a:rPr lang="ko-KR" alt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WS2812B 무드등 제어</a:t>
            </a:r>
            <a:endParaRPr lang="ko-KR" sz="1900" dirty="0"/>
          </a:p>
        </p:txBody>
      </p:sp>
      <p:sp>
        <p:nvSpPr>
          <p:cNvPr id="10" name="Text 8"/>
          <p:cNvSpPr/>
          <p:nvPr/>
        </p:nvSpPr>
        <p:spPr>
          <a:xfrm>
            <a:off x="941166" y="4185741"/>
            <a:ext cx="3571190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RGB 컬러 피커, 밝기 슬라이더, 긴급 사이렌 테스트</a:t>
            </a:r>
            <a:endParaRPr lang="ko-KR" sz="1200" dirty="0"/>
          </a:p>
        </p:txBody>
      </p:sp>
      <p:sp>
        <p:nvSpPr>
          <p:cNvPr id="11" name="Shape 9"/>
          <p:cNvSpPr/>
          <p:nvPr/>
        </p:nvSpPr>
        <p:spPr>
          <a:xfrm>
            <a:off x="719814" y="4838998"/>
            <a:ext cx="4013893" cy="1180902"/>
          </a:xfrm>
          <a:prstGeom prst="roundRect">
            <a:avLst>
              <a:gd name="adj" fmla="val 6973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41166" y="5060355"/>
            <a:ext cx="3571190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🤖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Pillume AI Assistant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41166" y="5553472"/>
            <a:ext cx="3571190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복약 기록</a:t>
            </a:r>
            <a:r>
              <a:rPr lang="en-US" altLang="ko-KR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ESP</a:t>
            </a:r>
            <a:r>
              <a:rPr lang="ko-KR" alt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연결 방법</a:t>
            </a:r>
            <a:r>
              <a:rPr lang="en-US" altLang="ko-KR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ko-KR" alt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모션 모델 설정가능</a:t>
            </a:r>
            <a:r>
              <a:rPr lang="en-US" altLang="ko-KR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ko-KR" sz="1200" dirty="0"/>
          </a:p>
        </p:txBody>
      </p:sp>
      <p:sp>
        <p:nvSpPr>
          <p:cNvPr id="14" name="Text 12"/>
          <p:cNvSpPr/>
          <p:nvPr/>
        </p:nvSpPr>
        <p:spPr>
          <a:xfrm>
            <a:off x="5218280" y="2103537"/>
            <a:ext cx="6259951" cy="196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18280" y="2103537"/>
            <a:ext cx="6259951" cy="196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8280" y="2103537"/>
            <a:ext cx="6259951" cy="196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endParaRPr lang="en-US" sz="15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F5723DA-FFCC-5F16-0976-78D3733B3C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04" t="4294" r="5802" b="6239"/>
          <a:stretch>
            <a:fillRect/>
          </a:stretch>
        </p:blipFill>
        <p:spPr>
          <a:xfrm>
            <a:off x="5038800" y="1613198"/>
            <a:ext cx="2821050" cy="252207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AF41F32-736F-58A6-8632-B26A8D70A3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49" t="5774" r="6271" b="7685"/>
          <a:stretch>
            <a:fillRect/>
          </a:stretch>
        </p:blipFill>
        <p:spPr>
          <a:xfrm>
            <a:off x="7997631" y="1613198"/>
            <a:ext cx="3166641" cy="252207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DFEF90E-3611-84E2-6F69-999543CCD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808" y="4267893"/>
            <a:ext cx="3385013" cy="2447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30857" y="1245877"/>
            <a:ext cx="10752067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종합 요약 및 </a:t>
            </a:r>
            <a:r>
              <a:rPr lang="ko-KR" altLang="en-US" sz="2050" dirty="0">
                <a:solidFill>
                  <a:srgbClr val="D2600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추후 확장성</a:t>
            </a:r>
            <a:endParaRPr lang="ko-KR" sz="2050" dirty="0"/>
          </a:p>
        </p:txBody>
      </p:sp>
      <p:sp>
        <p:nvSpPr>
          <p:cNvPr id="5" name="Text 3"/>
          <p:cNvSpPr/>
          <p:nvPr/>
        </p:nvSpPr>
        <p:spPr>
          <a:xfrm>
            <a:off x="1030857" y="2180381"/>
            <a:ext cx="5026395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스마트홈 비전 &amp; 확장성</a:t>
            </a:r>
            <a:endParaRPr lang="ko-KR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0151" y="2719097"/>
            <a:ext cx="212025" cy="2120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0437" y="2666619"/>
            <a:ext cx="4746109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 err="1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IoT</a:t>
            </a:r>
            <a:r>
              <a:rPr lang="ko-KR" alt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메인 허브</a:t>
            </a:r>
            <a:endParaRPr lang="ko-KR" sz="2000" dirty="0"/>
          </a:p>
        </p:txBody>
      </p:sp>
      <p:sp>
        <p:nvSpPr>
          <p:cNvPr id="8" name="Text 5"/>
          <p:cNvSpPr/>
          <p:nvPr/>
        </p:nvSpPr>
        <p:spPr>
          <a:xfrm>
            <a:off x="1490437" y="3061784"/>
            <a:ext cx="4746109" cy="102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ko-KR" alt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조명·환기·도어락 통합 제어</a:t>
            </a:r>
            <a:endParaRPr lang="ko-KR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0151" y="3866503"/>
            <a:ext cx="212025" cy="2120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90437" y="3846472"/>
            <a:ext cx="4746109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독거노인 돌봄</a:t>
            </a:r>
            <a:endParaRPr lang="ko-KR" sz="2000" dirty="0"/>
          </a:p>
        </p:txBody>
      </p:sp>
      <p:sp>
        <p:nvSpPr>
          <p:cNvPr id="11" name="Text 7"/>
          <p:cNvSpPr/>
          <p:nvPr/>
        </p:nvSpPr>
        <p:spPr>
          <a:xfrm>
            <a:off x="1422176" y="4193302"/>
            <a:ext cx="4746109" cy="102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ko-KR" alt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안부 확인 자동화 연계</a:t>
            </a:r>
            <a:endParaRPr lang="ko-KR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0151" y="5142054"/>
            <a:ext cx="212025" cy="2120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90437" y="5063293"/>
            <a:ext cx="4746109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통합 데이터베이스</a:t>
            </a:r>
            <a:endParaRPr lang="ko-KR" sz="2000" dirty="0"/>
          </a:p>
        </p:txBody>
      </p:sp>
      <p:sp>
        <p:nvSpPr>
          <p:cNvPr id="14" name="Text 9"/>
          <p:cNvSpPr/>
          <p:nvPr/>
        </p:nvSpPr>
        <p:spPr>
          <a:xfrm>
            <a:off x="1481472" y="5411628"/>
            <a:ext cx="4746109" cy="102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ko-KR" alt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실버타운·요양병원 복약 관제</a:t>
            </a:r>
            <a:endParaRPr lang="ko-KR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1815" y="1245877"/>
            <a:ext cx="4684893" cy="46931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06523" y="6059190"/>
            <a:ext cx="6076401" cy="102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1000"/>
              </a:lnSpc>
              <a:buNone/>
            </a:pPr>
            <a:r>
              <a:rPr lang="ko-KR" altLang="en-US" sz="6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🏠</a:t>
            </a:r>
            <a:r>
              <a:rPr lang="ko-KR" alt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ko-KR" altLang="en-US" sz="650" dirty="0">
                <a:solidFill>
                  <a:srgbClr val="D2600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Pillume</a:t>
            </a:r>
            <a:r>
              <a:rPr lang="ko-KR" alt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중심의 스마트 케어 생태계 미래 비전</a:t>
            </a:r>
            <a:endParaRPr lang="ko-KR" sz="650" dirty="0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A2562777-DF83-46DB-4227-1C0F37DE9C09}"/>
              </a:ext>
            </a:extLst>
          </p:cNvPr>
          <p:cNvSpPr/>
          <p:nvPr/>
        </p:nvSpPr>
        <p:spPr>
          <a:xfrm>
            <a:off x="797695" y="831400"/>
            <a:ext cx="2116955" cy="297855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609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0D0772C5-17E9-8EEF-5E71-AAA04CE3F1C5}"/>
              </a:ext>
            </a:extLst>
          </p:cNvPr>
          <p:cNvSpPr/>
          <p:nvPr/>
        </p:nvSpPr>
        <p:spPr>
          <a:xfrm>
            <a:off x="915266" y="890138"/>
            <a:ext cx="1999384" cy="196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ko-KR" altLang="en-US" sz="12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07. 종합 요약 및 추후 확장성</a:t>
            </a:r>
            <a:endParaRPr lang="ko-KR" altLang="ko-KR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IOT 발표 영상">
            <a:hlinkClick r:id="" action="ppaction://media"/>
            <a:extLst>
              <a:ext uri="{FF2B5EF4-FFF2-40B4-BE49-F238E27FC236}">
                <a16:creationId xmlns:a16="http://schemas.microsoft.com/office/drawing/2014/main" id="{89234D56-F9BF-A079-3A0D-AE11DA5D82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45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23B1C9-4742-7FE2-BABE-28F83DF68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366" y="0"/>
            <a:ext cx="3165231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A443234-F1AF-A964-9561-AD0CA3D7F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134" y="0"/>
            <a:ext cx="3165231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CCCDBF9-F733-4285-D8D6-4DE7C9109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24" y="0"/>
            <a:ext cx="3165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37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510</Words>
  <Application>Microsoft Office PowerPoint</Application>
  <PresentationFormat>와이드스크린</PresentationFormat>
  <Paragraphs>88</Paragraphs>
  <Slides>10</Slides>
  <Notes>8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</vt:lpstr>
      <vt:lpstr>Merriweather</vt:lpstr>
      <vt:lpstr>Merriweather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이정운</dc:creator>
  <cp:lastModifiedBy>정운 이</cp:lastModifiedBy>
  <cp:revision>9</cp:revision>
  <dcterms:created xsi:type="dcterms:W3CDTF">2026-07-28T05:25:02Z</dcterms:created>
  <dcterms:modified xsi:type="dcterms:W3CDTF">2026-07-28T07:50:11Z</dcterms:modified>
</cp:coreProperties>
</file>